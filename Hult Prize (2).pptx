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36" r:id="rId1"/>
  </p:sldMasterIdLst>
  <p:sldIdLst>
    <p:sldId id="256" r:id="rId2"/>
    <p:sldId id="295" r:id="rId3"/>
    <p:sldId id="263" r:id="rId4"/>
    <p:sldId id="290" r:id="rId5"/>
    <p:sldId id="291" r:id="rId6"/>
    <p:sldId id="264" r:id="rId7"/>
    <p:sldId id="265" r:id="rId8"/>
    <p:sldId id="266" r:id="rId9"/>
    <p:sldId id="297" r:id="rId10"/>
    <p:sldId id="281" r:id="rId11"/>
    <p:sldId id="296" r:id="rId12"/>
    <p:sldId id="288" r:id="rId13"/>
    <p:sldId id="29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503927665188233"/>
          <c:y val="0.14776470588235294"/>
          <c:w val="0.83448479968079436"/>
          <c:h val="0.5835548203533381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Organic Materials </c:v>
                </c:pt>
                <c:pt idx="1">
                  <c:v>Plastic</c:v>
                </c:pt>
                <c:pt idx="2">
                  <c:v>Papers 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1.25</c:v>
                </c:pt>
                <c:pt idx="1">
                  <c:v>1.4</c:v>
                </c:pt>
                <c:pt idx="2">
                  <c:v>2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7578976"/>
        <c:axId val="17581152"/>
      </c:barChart>
      <c:catAx>
        <c:axId val="1757897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 smtClean="0"/>
                  <a:t>Material</a:t>
                </a:r>
                <a:endParaRPr lang="en-US" dirty="0"/>
              </a:p>
            </c:rich>
          </c:tx>
          <c:layout>
            <c:manualLayout>
              <c:xMode val="edge"/>
              <c:yMode val="edge"/>
              <c:x val="0.49838887084131717"/>
              <c:y val="0.8809329716138424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581152"/>
        <c:crosses val="autoZero"/>
        <c:auto val="1"/>
        <c:lblAlgn val="ctr"/>
        <c:lblOffset val="100"/>
        <c:noMultiLvlLbl val="0"/>
      </c:catAx>
      <c:valAx>
        <c:axId val="175811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 smtClean="0"/>
                  <a:t>Losses</a:t>
                </a:r>
                <a:r>
                  <a:rPr lang="en-US" baseline="0" dirty="0" smtClean="0"/>
                  <a:t> In Billions per Year</a:t>
                </a:r>
                <a:endParaRPr lang="en-US" dirty="0"/>
              </a:p>
            </c:rich>
          </c:tx>
          <c:layout>
            <c:manualLayout>
              <c:xMode val="edge"/>
              <c:yMode val="edge"/>
              <c:x val="4.3992534692021405E-2"/>
              <c:y val="0.16319751207569641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5789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622A91D-3245-4C6D-A79F-1E1C7ACBEC3B}" type="doc">
      <dgm:prSet loTypeId="urn:microsoft.com/office/officeart/2005/8/layout/vProcess5" loCatId="process" qsTypeId="urn:microsoft.com/office/officeart/2005/8/quickstyle/3d2" qsCatId="3D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2B105EC0-1794-447E-B120-4424797C95E1}">
      <dgm:prSet phldrT="[Text]"/>
      <dgm:spPr/>
      <dgm:t>
        <a:bodyPr/>
        <a:lstStyle/>
        <a:p>
          <a:r>
            <a:rPr lang="en-US" dirty="0" smtClean="0"/>
            <a:t>Material?</a:t>
          </a:r>
          <a:endParaRPr lang="en-US" dirty="0"/>
        </a:p>
      </dgm:t>
    </dgm:pt>
    <dgm:pt modelId="{AF4BB6E5-9CF4-4BD6-A485-4790E20F022F}" type="parTrans" cxnId="{2D7DDB28-C8F6-4E68-9E75-B024B3B256A3}">
      <dgm:prSet/>
      <dgm:spPr/>
      <dgm:t>
        <a:bodyPr/>
        <a:lstStyle/>
        <a:p>
          <a:endParaRPr lang="en-US"/>
        </a:p>
      </dgm:t>
    </dgm:pt>
    <dgm:pt modelId="{E0BE3718-06E4-4FEE-85EE-2519265EEA2E}" type="sibTrans" cxnId="{2D7DDB28-C8F6-4E68-9E75-B024B3B256A3}">
      <dgm:prSet/>
      <dgm:spPr/>
      <dgm:t>
        <a:bodyPr/>
        <a:lstStyle/>
        <a:p>
          <a:endParaRPr lang="en-US"/>
        </a:p>
      </dgm:t>
    </dgm:pt>
    <dgm:pt modelId="{E4346371-EB4B-4034-88AF-5DF664B82B50}">
      <dgm:prSet/>
      <dgm:spPr/>
      <dgm:t>
        <a:bodyPr/>
        <a:lstStyle/>
        <a:p>
          <a:r>
            <a:rPr lang="en-US" dirty="0" smtClean="0"/>
            <a:t>Recycling Center?</a:t>
          </a:r>
          <a:endParaRPr lang="en-US" dirty="0"/>
        </a:p>
      </dgm:t>
    </dgm:pt>
    <dgm:pt modelId="{AF4A0EE1-9307-4419-9689-63DDA07C2DF2}" type="parTrans" cxnId="{9233619A-2EFC-4A1C-BF9E-0BD9FBC3DFF0}">
      <dgm:prSet/>
      <dgm:spPr/>
      <dgm:t>
        <a:bodyPr/>
        <a:lstStyle/>
        <a:p>
          <a:endParaRPr lang="en-US"/>
        </a:p>
      </dgm:t>
    </dgm:pt>
    <dgm:pt modelId="{16B0A1C3-4134-4B36-8172-11BE5537B34E}" type="sibTrans" cxnId="{9233619A-2EFC-4A1C-BF9E-0BD9FBC3DFF0}">
      <dgm:prSet/>
      <dgm:spPr/>
      <dgm:t>
        <a:bodyPr/>
        <a:lstStyle/>
        <a:p>
          <a:endParaRPr lang="en-US"/>
        </a:p>
      </dgm:t>
    </dgm:pt>
    <dgm:pt modelId="{4C2C8C97-4E74-43A8-94DA-4B77372D2013}">
      <dgm:prSet/>
      <dgm:spPr/>
      <dgm:t>
        <a:bodyPr/>
        <a:lstStyle/>
        <a:p>
          <a:r>
            <a:rPr lang="en-US" dirty="0" smtClean="0"/>
            <a:t>Which agent?</a:t>
          </a:r>
          <a:endParaRPr lang="en-US" dirty="0"/>
        </a:p>
      </dgm:t>
    </dgm:pt>
    <dgm:pt modelId="{750E047D-7C87-41C5-B2B6-DF56B7155726}" type="parTrans" cxnId="{756F9C5E-0524-40AA-8698-6ADD4E426DB0}">
      <dgm:prSet/>
      <dgm:spPr/>
      <dgm:t>
        <a:bodyPr/>
        <a:lstStyle/>
        <a:p>
          <a:endParaRPr lang="en-US"/>
        </a:p>
      </dgm:t>
    </dgm:pt>
    <dgm:pt modelId="{EBF775E0-EE6A-41F0-8C30-0FC109AFF345}" type="sibTrans" cxnId="{756F9C5E-0524-40AA-8698-6ADD4E426DB0}">
      <dgm:prSet/>
      <dgm:spPr/>
      <dgm:t>
        <a:bodyPr/>
        <a:lstStyle/>
        <a:p>
          <a:endParaRPr lang="en-US"/>
        </a:p>
      </dgm:t>
    </dgm:pt>
    <dgm:pt modelId="{994B3E64-5AA5-47C8-A460-D51EFE11EA7D}" type="pres">
      <dgm:prSet presAssocID="{E622A91D-3245-4C6D-A79F-1E1C7ACBEC3B}" presName="outerComposite" presStyleCnt="0">
        <dgm:presLayoutVars>
          <dgm:chMax val="5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2C42D3D-6798-44A5-B3AC-5FBA01472084}" type="pres">
      <dgm:prSet presAssocID="{E622A91D-3245-4C6D-A79F-1E1C7ACBEC3B}" presName="dummyMaxCanvas" presStyleCnt="0">
        <dgm:presLayoutVars/>
      </dgm:prSet>
      <dgm:spPr/>
    </dgm:pt>
    <dgm:pt modelId="{3A59DFF4-4C8E-4407-BD25-D755A2864CA0}" type="pres">
      <dgm:prSet presAssocID="{E622A91D-3245-4C6D-A79F-1E1C7ACBEC3B}" presName="ThreeNodes_1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7A825E7-4FEB-47D3-A327-C5FACF55B61B}" type="pres">
      <dgm:prSet presAssocID="{E622A91D-3245-4C6D-A79F-1E1C7ACBEC3B}" presName="ThreeNodes_2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6943448-B639-46ED-A50C-C653B56B0F09}" type="pres">
      <dgm:prSet presAssocID="{E622A91D-3245-4C6D-A79F-1E1C7ACBEC3B}" presName="ThreeNodes_3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9D89B41-0F49-4CA8-9763-2F5281F51CA3}" type="pres">
      <dgm:prSet presAssocID="{E622A91D-3245-4C6D-A79F-1E1C7ACBEC3B}" presName="ThreeConn_1-2" presStyleLbl="fgAccFollow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DCBA245-D089-4CF5-9203-8D1EE3D332E4}" type="pres">
      <dgm:prSet presAssocID="{E622A91D-3245-4C6D-A79F-1E1C7ACBEC3B}" presName="ThreeConn_2-3" presStyleLbl="fgAccFollow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B495762-8619-4F28-B6D0-78EF1508069C}" type="pres">
      <dgm:prSet presAssocID="{E622A91D-3245-4C6D-A79F-1E1C7ACBEC3B}" presName="ThreeNodes_1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39E0073-641B-4806-8126-526D6A29B540}" type="pres">
      <dgm:prSet presAssocID="{E622A91D-3245-4C6D-A79F-1E1C7ACBEC3B}" presName="ThreeNodes_2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C2F6D11-E1B2-4F04-9752-5CDADF96E815}" type="pres">
      <dgm:prSet presAssocID="{E622A91D-3245-4C6D-A79F-1E1C7ACBEC3B}" presName="ThreeNodes_3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8084BD69-C994-4891-BDBC-13F6B7B5D3EC}" type="presOf" srcId="{E4346371-EB4B-4034-88AF-5DF664B82B50}" destId="{639E0073-641B-4806-8126-526D6A29B540}" srcOrd="1" destOrd="0" presId="urn:microsoft.com/office/officeart/2005/8/layout/vProcess5"/>
    <dgm:cxn modelId="{C6837FF7-6FF6-47E1-9D38-B5CA55F82970}" type="presOf" srcId="{4C2C8C97-4E74-43A8-94DA-4B77372D2013}" destId="{86943448-B639-46ED-A50C-C653B56B0F09}" srcOrd="0" destOrd="0" presId="urn:microsoft.com/office/officeart/2005/8/layout/vProcess5"/>
    <dgm:cxn modelId="{2EC64651-C1D4-4ED9-8678-5B6BA1225763}" type="presOf" srcId="{E0BE3718-06E4-4FEE-85EE-2519265EEA2E}" destId="{29D89B41-0F49-4CA8-9763-2F5281F51CA3}" srcOrd="0" destOrd="0" presId="urn:microsoft.com/office/officeart/2005/8/layout/vProcess5"/>
    <dgm:cxn modelId="{FD61647F-C963-4622-B9B5-E20B3DF2A05D}" type="presOf" srcId="{E622A91D-3245-4C6D-A79F-1E1C7ACBEC3B}" destId="{994B3E64-5AA5-47C8-A460-D51EFE11EA7D}" srcOrd="0" destOrd="0" presId="urn:microsoft.com/office/officeart/2005/8/layout/vProcess5"/>
    <dgm:cxn modelId="{9233619A-2EFC-4A1C-BF9E-0BD9FBC3DFF0}" srcId="{E622A91D-3245-4C6D-A79F-1E1C7ACBEC3B}" destId="{E4346371-EB4B-4034-88AF-5DF664B82B50}" srcOrd="1" destOrd="0" parTransId="{AF4A0EE1-9307-4419-9689-63DDA07C2DF2}" sibTransId="{16B0A1C3-4134-4B36-8172-11BE5537B34E}"/>
    <dgm:cxn modelId="{70FD1E76-3D25-4993-B773-8AD455DCC6A5}" type="presOf" srcId="{2B105EC0-1794-447E-B120-4424797C95E1}" destId="{3A59DFF4-4C8E-4407-BD25-D755A2864CA0}" srcOrd="0" destOrd="0" presId="urn:microsoft.com/office/officeart/2005/8/layout/vProcess5"/>
    <dgm:cxn modelId="{FE80353A-2CEC-4CA9-B60F-E4722AF9CCE5}" type="presOf" srcId="{E4346371-EB4B-4034-88AF-5DF664B82B50}" destId="{E7A825E7-4FEB-47D3-A327-C5FACF55B61B}" srcOrd="0" destOrd="0" presId="urn:microsoft.com/office/officeart/2005/8/layout/vProcess5"/>
    <dgm:cxn modelId="{2D7DDB28-C8F6-4E68-9E75-B024B3B256A3}" srcId="{E622A91D-3245-4C6D-A79F-1E1C7ACBEC3B}" destId="{2B105EC0-1794-447E-B120-4424797C95E1}" srcOrd="0" destOrd="0" parTransId="{AF4BB6E5-9CF4-4BD6-A485-4790E20F022F}" sibTransId="{E0BE3718-06E4-4FEE-85EE-2519265EEA2E}"/>
    <dgm:cxn modelId="{E0F8C473-96FF-461E-8DCB-CE5B385AEF9E}" type="presOf" srcId="{4C2C8C97-4E74-43A8-94DA-4B77372D2013}" destId="{5C2F6D11-E1B2-4F04-9752-5CDADF96E815}" srcOrd="1" destOrd="0" presId="urn:microsoft.com/office/officeart/2005/8/layout/vProcess5"/>
    <dgm:cxn modelId="{3DEBEE01-6CA7-4865-9B8E-8C83E5BBF878}" type="presOf" srcId="{2B105EC0-1794-447E-B120-4424797C95E1}" destId="{6B495762-8619-4F28-B6D0-78EF1508069C}" srcOrd="1" destOrd="0" presId="urn:microsoft.com/office/officeart/2005/8/layout/vProcess5"/>
    <dgm:cxn modelId="{756F9C5E-0524-40AA-8698-6ADD4E426DB0}" srcId="{E622A91D-3245-4C6D-A79F-1E1C7ACBEC3B}" destId="{4C2C8C97-4E74-43A8-94DA-4B77372D2013}" srcOrd="2" destOrd="0" parTransId="{750E047D-7C87-41C5-B2B6-DF56B7155726}" sibTransId="{EBF775E0-EE6A-41F0-8C30-0FC109AFF345}"/>
    <dgm:cxn modelId="{1494A761-AF54-47A9-8DC4-61E245C7A30C}" type="presOf" srcId="{16B0A1C3-4134-4B36-8172-11BE5537B34E}" destId="{ADCBA245-D089-4CF5-9203-8D1EE3D332E4}" srcOrd="0" destOrd="0" presId="urn:microsoft.com/office/officeart/2005/8/layout/vProcess5"/>
    <dgm:cxn modelId="{F3CFB4EE-7CC7-4854-A407-62B6CE9D4DEE}" type="presParOf" srcId="{994B3E64-5AA5-47C8-A460-D51EFE11EA7D}" destId="{E2C42D3D-6798-44A5-B3AC-5FBA01472084}" srcOrd="0" destOrd="0" presId="urn:microsoft.com/office/officeart/2005/8/layout/vProcess5"/>
    <dgm:cxn modelId="{20F964BC-4351-4983-903E-881227F38F14}" type="presParOf" srcId="{994B3E64-5AA5-47C8-A460-D51EFE11EA7D}" destId="{3A59DFF4-4C8E-4407-BD25-D755A2864CA0}" srcOrd="1" destOrd="0" presId="urn:microsoft.com/office/officeart/2005/8/layout/vProcess5"/>
    <dgm:cxn modelId="{4DCE47BC-989C-47A6-AF7F-2D8674EFA4B3}" type="presParOf" srcId="{994B3E64-5AA5-47C8-A460-D51EFE11EA7D}" destId="{E7A825E7-4FEB-47D3-A327-C5FACF55B61B}" srcOrd="2" destOrd="0" presId="urn:microsoft.com/office/officeart/2005/8/layout/vProcess5"/>
    <dgm:cxn modelId="{8CDDE640-EDA8-4103-A035-BFE17223C935}" type="presParOf" srcId="{994B3E64-5AA5-47C8-A460-D51EFE11EA7D}" destId="{86943448-B639-46ED-A50C-C653B56B0F09}" srcOrd="3" destOrd="0" presId="urn:microsoft.com/office/officeart/2005/8/layout/vProcess5"/>
    <dgm:cxn modelId="{0990BABE-96BB-44B5-8AFB-C5B4BED7B558}" type="presParOf" srcId="{994B3E64-5AA5-47C8-A460-D51EFE11EA7D}" destId="{29D89B41-0F49-4CA8-9763-2F5281F51CA3}" srcOrd="4" destOrd="0" presId="urn:microsoft.com/office/officeart/2005/8/layout/vProcess5"/>
    <dgm:cxn modelId="{2A9B8546-9069-47C3-A0FC-CBFC8B547CE9}" type="presParOf" srcId="{994B3E64-5AA5-47C8-A460-D51EFE11EA7D}" destId="{ADCBA245-D089-4CF5-9203-8D1EE3D332E4}" srcOrd="5" destOrd="0" presId="urn:microsoft.com/office/officeart/2005/8/layout/vProcess5"/>
    <dgm:cxn modelId="{7E625C70-46A1-423A-A036-99E6D343C635}" type="presParOf" srcId="{994B3E64-5AA5-47C8-A460-D51EFE11EA7D}" destId="{6B495762-8619-4F28-B6D0-78EF1508069C}" srcOrd="6" destOrd="0" presId="urn:microsoft.com/office/officeart/2005/8/layout/vProcess5"/>
    <dgm:cxn modelId="{E8171114-D282-4D9C-AE1D-15F5FA36F19E}" type="presParOf" srcId="{994B3E64-5AA5-47C8-A460-D51EFE11EA7D}" destId="{639E0073-641B-4806-8126-526D6A29B540}" srcOrd="7" destOrd="0" presId="urn:microsoft.com/office/officeart/2005/8/layout/vProcess5"/>
    <dgm:cxn modelId="{89AD16EC-4983-42CD-8CE5-4DBF0A377EBE}" type="presParOf" srcId="{994B3E64-5AA5-47C8-A460-D51EFE11EA7D}" destId="{5C2F6D11-E1B2-4F04-9752-5CDADF96E815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59DFF4-4C8E-4407-BD25-D755A2864CA0}">
      <dsp:nvSpPr>
        <dsp:cNvPr id="0" name=""/>
        <dsp:cNvSpPr/>
      </dsp:nvSpPr>
      <dsp:spPr>
        <a:xfrm>
          <a:off x="0" y="0"/>
          <a:ext cx="6240603" cy="125688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lvl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900" kern="1200" dirty="0" smtClean="0"/>
            <a:t>Material?</a:t>
          </a:r>
          <a:endParaRPr lang="en-US" sz="3900" kern="1200" dirty="0"/>
        </a:p>
      </dsp:txBody>
      <dsp:txXfrm>
        <a:off x="36813" y="36813"/>
        <a:ext cx="4884328" cy="1183257"/>
      </dsp:txXfrm>
    </dsp:sp>
    <dsp:sp modelId="{E7A825E7-4FEB-47D3-A327-C5FACF55B61B}">
      <dsp:nvSpPr>
        <dsp:cNvPr id="0" name=""/>
        <dsp:cNvSpPr/>
      </dsp:nvSpPr>
      <dsp:spPr>
        <a:xfrm>
          <a:off x="550641" y="1466364"/>
          <a:ext cx="6240603" cy="125688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lvl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900" kern="1200" dirty="0" smtClean="0"/>
            <a:t>Recycling Center?</a:t>
          </a:r>
          <a:endParaRPr lang="en-US" sz="3900" kern="1200" dirty="0"/>
        </a:p>
      </dsp:txBody>
      <dsp:txXfrm>
        <a:off x="587454" y="1503177"/>
        <a:ext cx="4799362" cy="1183257"/>
      </dsp:txXfrm>
    </dsp:sp>
    <dsp:sp modelId="{86943448-B639-46ED-A50C-C653B56B0F09}">
      <dsp:nvSpPr>
        <dsp:cNvPr id="0" name=""/>
        <dsp:cNvSpPr/>
      </dsp:nvSpPr>
      <dsp:spPr>
        <a:xfrm>
          <a:off x="1101283" y="2932728"/>
          <a:ext cx="6240603" cy="125688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lvl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900" kern="1200" dirty="0" smtClean="0"/>
            <a:t>Which agent?</a:t>
          </a:r>
          <a:endParaRPr lang="en-US" sz="3900" kern="1200" dirty="0"/>
        </a:p>
      </dsp:txBody>
      <dsp:txXfrm>
        <a:off x="1138096" y="2969541"/>
        <a:ext cx="4799362" cy="1183257"/>
      </dsp:txXfrm>
    </dsp:sp>
    <dsp:sp modelId="{29D89B41-0F49-4CA8-9763-2F5281F51CA3}">
      <dsp:nvSpPr>
        <dsp:cNvPr id="0" name=""/>
        <dsp:cNvSpPr/>
      </dsp:nvSpPr>
      <dsp:spPr>
        <a:xfrm>
          <a:off x="5423629" y="953136"/>
          <a:ext cx="816974" cy="816974"/>
        </a:xfrm>
        <a:prstGeom prst="downArrow">
          <a:avLst>
            <a:gd name="adj1" fmla="val 55000"/>
            <a:gd name="adj2" fmla="val 45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540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600" kern="1200"/>
        </a:p>
      </dsp:txBody>
      <dsp:txXfrm>
        <a:off x="5607448" y="953136"/>
        <a:ext cx="449336" cy="614773"/>
      </dsp:txXfrm>
    </dsp:sp>
    <dsp:sp modelId="{ADCBA245-D089-4CF5-9203-8D1EE3D332E4}">
      <dsp:nvSpPr>
        <dsp:cNvPr id="0" name=""/>
        <dsp:cNvSpPr/>
      </dsp:nvSpPr>
      <dsp:spPr>
        <a:xfrm>
          <a:off x="5974271" y="2411121"/>
          <a:ext cx="816974" cy="816974"/>
        </a:xfrm>
        <a:prstGeom prst="downArrow">
          <a:avLst>
            <a:gd name="adj1" fmla="val 55000"/>
            <a:gd name="adj2" fmla="val 45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540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600" kern="1200"/>
        </a:p>
      </dsp:txBody>
      <dsp:txXfrm>
        <a:off x="6158090" y="2411121"/>
        <a:ext cx="449336" cy="61477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D157C-BE94-41B6-8C5D-6FA3663AD6C0}" type="datetimeFigureOut">
              <a:rPr lang="en-US" smtClean="0"/>
              <a:t>3/15/2021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9C3D2AEB-020A-4597-8713-FA13339B4C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26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D157C-BE94-41B6-8C5D-6FA3663AD6C0}" type="datetimeFigureOut">
              <a:rPr lang="en-US" smtClean="0"/>
              <a:t>3/15/2021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D2AEB-020A-4597-8713-FA13339B4C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459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D157C-BE94-41B6-8C5D-6FA3663AD6C0}" type="datetimeFigureOut">
              <a:rPr lang="en-US" smtClean="0"/>
              <a:t>3/15/2021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C3D2AEB-020A-4597-8713-FA13339B4C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443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D157C-BE94-41B6-8C5D-6FA3663AD6C0}" type="datetimeFigureOut">
              <a:rPr lang="en-US" smtClean="0"/>
              <a:t>3/15/2021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9C3D2AEB-020A-4597-8713-FA13339B4C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265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D157C-BE94-41B6-8C5D-6FA3663AD6C0}" type="datetimeFigureOut">
              <a:rPr lang="en-US" smtClean="0"/>
              <a:t>3/15/2021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9C3D2AEB-020A-4597-8713-FA13339B4C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87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D157C-BE94-41B6-8C5D-6FA3663AD6C0}" type="datetimeFigureOut">
              <a:rPr lang="en-US" smtClean="0"/>
              <a:t>3/15/2021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D2AEB-020A-4597-8713-FA13339B4C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914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D157C-BE94-41B6-8C5D-6FA3663AD6C0}" type="datetimeFigureOut">
              <a:rPr lang="en-US" smtClean="0"/>
              <a:t>3/15/2021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D2AEB-020A-4597-8713-FA13339B4C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1620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D157C-BE94-41B6-8C5D-6FA3663AD6C0}" type="datetimeFigureOut">
              <a:rPr lang="en-US" smtClean="0"/>
              <a:t>3/15/2021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D2AEB-020A-4597-8713-FA13339B4C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28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D157C-BE94-41B6-8C5D-6FA3663AD6C0}" type="datetimeFigureOut">
              <a:rPr lang="en-US" smtClean="0"/>
              <a:t>3/15/2021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C3D2AEB-020A-4597-8713-FA13339B4C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364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D157C-BE94-41B6-8C5D-6FA3663AD6C0}" type="datetimeFigureOut">
              <a:rPr lang="en-US" smtClean="0"/>
              <a:t>3/15/2021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C3D2AEB-020A-4597-8713-FA13339B4C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119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D157C-BE94-41B6-8C5D-6FA3663AD6C0}" type="datetimeFigureOut">
              <a:rPr lang="en-US" smtClean="0"/>
              <a:t>3/15/2021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9C3D2AEB-020A-4597-8713-FA13339B4CD8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544299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D157C-BE94-41B6-8C5D-6FA3663AD6C0}" type="datetimeFigureOut">
              <a:rPr lang="en-US" smtClean="0"/>
              <a:t>3/15/2021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C3D2AEB-020A-4597-8713-FA13339B4C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8431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D157C-BE94-41B6-8C5D-6FA3663AD6C0}" type="datetimeFigureOut">
              <a:rPr lang="en-US" smtClean="0"/>
              <a:t>3/15/2021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C3D2AEB-020A-4597-8713-FA13339B4CD8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780409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D157C-BE94-41B6-8C5D-6FA3663AD6C0}" type="datetimeFigureOut">
              <a:rPr lang="en-US" smtClean="0"/>
              <a:t>3/15/2021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9C3D2AEB-020A-4597-8713-FA13339B4C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2364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D157C-BE94-41B6-8C5D-6FA3663AD6C0}" type="datetimeFigureOut">
              <a:rPr lang="en-US" smtClean="0"/>
              <a:t>3/15/2021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D2AEB-020A-4597-8713-FA13339B4C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8224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D157C-BE94-41B6-8C5D-6FA3663AD6C0}" type="datetimeFigureOut">
              <a:rPr lang="en-US" smtClean="0"/>
              <a:t>3/15/2021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D2AEB-020A-4597-8713-FA13339B4C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76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4D157C-BE94-41B6-8C5D-6FA3663AD6C0}" type="datetimeFigureOut">
              <a:rPr lang="en-US" smtClean="0"/>
              <a:t>3/15/2021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9C3D2AEB-020A-4597-8713-FA13339B4C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756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7" r:id="rId1"/>
    <p:sldLayoutId id="2147483938" r:id="rId2"/>
    <p:sldLayoutId id="2147483939" r:id="rId3"/>
    <p:sldLayoutId id="2147483940" r:id="rId4"/>
    <p:sldLayoutId id="2147483941" r:id="rId5"/>
    <p:sldLayoutId id="2147483942" r:id="rId6"/>
    <p:sldLayoutId id="2147483943" r:id="rId7"/>
    <p:sldLayoutId id="2147483944" r:id="rId8"/>
    <p:sldLayoutId id="2147483945" r:id="rId9"/>
    <p:sldLayoutId id="2147483946" r:id="rId10"/>
    <p:sldLayoutId id="2147483947" r:id="rId11"/>
    <p:sldLayoutId id="2147483948" r:id="rId12"/>
    <p:sldLayoutId id="2147483949" r:id="rId13"/>
    <p:sldLayoutId id="2147483950" r:id="rId14"/>
    <p:sldLayoutId id="2147483951" r:id="rId15"/>
    <p:sldLayoutId id="214748395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AutoShape 6" descr="نتيجة بحث الصور عن ‪HULT prize‬‏"/>
          <p:cNvSpPr>
            <a:spLocks noGrp="1" noChangeAspect="1" noChangeArrowheads="1"/>
          </p:cNvSpPr>
          <p:nvPr>
            <p:ph type="ctrTitle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147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PALESTINE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2430" y="2095500"/>
            <a:ext cx="8915400" cy="3777622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 smtClean="0"/>
              <a:t>850,000 ton of waste per year.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smtClean="0"/>
              <a:t>Recycled </a:t>
            </a:r>
            <a:r>
              <a:rPr lang="en-US" sz="2000" dirty="0" smtClean="0">
                <a:sym typeface="Wingdings" panose="05000000000000000000" pitchFamily="2" charset="2"/>
              </a:rPr>
              <a:t> 1</a:t>
            </a:r>
            <a:r>
              <a:rPr lang="ar-SA" sz="2000" dirty="0" smtClean="0">
                <a:sym typeface="Wingdings" panose="05000000000000000000" pitchFamily="2" charset="2"/>
              </a:rPr>
              <a:t>.7</a:t>
            </a:r>
            <a:r>
              <a:rPr lang="en-US" sz="2000" dirty="0" smtClean="0">
                <a:sym typeface="Wingdings" panose="05000000000000000000" pitchFamily="2" charset="2"/>
              </a:rPr>
              <a:t>%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smtClean="0">
                <a:sym typeface="Wingdings" panose="05000000000000000000" pitchFamily="2" charset="2"/>
              </a:rPr>
              <a:t>HUGE Pollution</a:t>
            </a:r>
            <a:endParaRPr lang="ar-SA" sz="2000" dirty="0" smtClean="0">
              <a:sym typeface="Wingdings" panose="05000000000000000000" pitchFamily="2" charset="2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smtClean="0">
                <a:sym typeface="Wingdings" panose="05000000000000000000" pitchFamily="2" charset="2"/>
              </a:rPr>
              <a:t>Losing millions$</a:t>
            </a:r>
            <a:endParaRPr lang="ar-SA" sz="2000" dirty="0" smtClean="0">
              <a:sym typeface="Wingdings" panose="05000000000000000000" pitchFamily="2" charset="2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9218" name="Picture 2" descr="نتيجة بحث الصور عن ‪pollution waste‬‏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8694" y="2847534"/>
            <a:ext cx="5387925" cy="3315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2793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4" t="31733" r="-1008" b="8788"/>
          <a:stretch/>
        </p:blipFill>
        <p:spPr>
          <a:xfrm>
            <a:off x="2398443" y="2026868"/>
            <a:ext cx="8843060" cy="327395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70094" y="4208760"/>
            <a:ext cx="4081467" cy="98488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endParaRPr lang="en-US" sz="2000" b="1" dirty="0" smtClean="0">
              <a:solidFill>
                <a:srgbClr val="FF0000"/>
              </a:solidFill>
            </a:endParaRPr>
          </a:p>
          <a:p>
            <a:pPr algn="ctr"/>
            <a:r>
              <a:rPr lang="en-US" b="1" dirty="0" smtClean="0">
                <a:solidFill>
                  <a:schemeClr val="bg2">
                    <a:lumMod val="50000"/>
                  </a:schemeClr>
                </a:solidFill>
              </a:rPr>
              <a:t>Recycling Rates round the world.</a:t>
            </a:r>
          </a:p>
          <a:p>
            <a:pPr algn="ctr"/>
            <a:endParaRPr lang="en-US" sz="2000" b="1" dirty="0" smtClean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5254580"/>
            <a:ext cx="8915400" cy="65664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 smtClean="0">
              <a:sym typeface="Wingdings" panose="05000000000000000000" pitchFamily="2" charset="2"/>
            </a:endParaRPr>
          </a:p>
          <a:p>
            <a:endParaRPr lang="en-US" dirty="0" smtClean="0"/>
          </a:p>
          <a:p>
            <a:endParaRPr lang="en-US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2770094" y="1904999"/>
            <a:ext cx="82968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398443" y="1581834"/>
            <a:ext cx="43568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2299447" y="543087"/>
            <a:ext cx="65225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ym typeface="Wingdings" panose="05000000000000000000" pitchFamily="2" charset="2"/>
              </a:rPr>
              <a:t>Around the world </a:t>
            </a:r>
            <a:r>
              <a:rPr lang="en-US" b="1" dirty="0" smtClean="0">
                <a:sym typeface="Wingdings" panose="05000000000000000000" pitchFamily="2" charset="2"/>
              </a:rPr>
              <a:t> </a:t>
            </a:r>
            <a:r>
              <a:rPr lang="en-US" b="1" dirty="0" smtClean="0"/>
              <a:t>2.1 </a:t>
            </a:r>
            <a:r>
              <a:rPr lang="en-US" b="1" dirty="0"/>
              <a:t>Billion </a:t>
            </a:r>
            <a:r>
              <a:rPr lang="en-US" dirty="0"/>
              <a:t>tons</a:t>
            </a:r>
            <a:r>
              <a:rPr lang="ar-SA" dirty="0"/>
              <a:t> </a:t>
            </a:r>
            <a:r>
              <a:rPr lang="en-US" dirty="0"/>
              <a:t>of waste </a:t>
            </a:r>
            <a:r>
              <a:rPr lang="en-US" dirty="0" smtClean="0"/>
              <a:t>per year.</a:t>
            </a:r>
          </a:p>
          <a:p>
            <a:endParaRPr lang="en-US" dirty="0" smtClean="0"/>
          </a:p>
          <a:p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chemeClr val="accent1"/>
                </a:solidFill>
              </a:rPr>
              <a:t>Recycled percentage </a:t>
            </a:r>
            <a:r>
              <a:rPr lang="en-US" dirty="0" smtClean="0">
                <a:sym typeface="Wingdings" panose="05000000000000000000" pitchFamily="2" charset="2"/>
              </a:rPr>
              <a:t>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99447" y="5911222"/>
            <a:ext cx="75786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chemeClr val="accent1"/>
                </a:solidFill>
              </a:rPr>
              <a:t>Unrecycled waste </a:t>
            </a:r>
            <a:r>
              <a:rPr lang="en-US" dirty="0" smtClean="0">
                <a:sym typeface="Wingdings" panose="05000000000000000000" pitchFamily="2" charset="2"/>
              </a:rPr>
              <a:t> </a:t>
            </a:r>
            <a:r>
              <a:rPr lang="ar-SA" dirty="0" smtClean="0"/>
              <a:t> </a:t>
            </a:r>
            <a:r>
              <a:rPr lang="en-US" b="1" dirty="0" smtClean="0"/>
              <a:t>burnt</a:t>
            </a:r>
            <a:r>
              <a:rPr lang="en-US" dirty="0" smtClean="0"/>
              <a:t>,</a:t>
            </a:r>
            <a:r>
              <a:rPr lang="ar-SA" dirty="0" smtClean="0"/>
              <a:t> </a:t>
            </a:r>
            <a:r>
              <a:rPr lang="en-US" b="1" dirty="0" smtClean="0"/>
              <a:t>buried</a:t>
            </a:r>
            <a:r>
              <a:rPr lang="en-US" dirty="0" smtClean="0"/>
              <a:t>, or </a:t>
            </a:r>
            <a:r>
              <a:rPr lang="en-US" b="1" dirty="0" smtClean="0"/>
              <a:t>landfills which increases air pollution.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0391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8525" y="475954"/>
            <a:ext cx="8911687" cy="1280890"/>
          </a:xfrm>
        </p:spPr>
        <p:txBody>
          <a:bodyPr/>
          <a:lstStyle/>
          <a:p>
            <a:r>
              <a:rPr lang="en-US" b="1" dirty="0" smtClean="0"/>
              <a:t>This is due to many PROPLEMS</a:t>
            </a:r>
            <a:r>
              <a:rPr lang="ar-SA" b="1" dirty="0" smtClean="0"/>
              <a:t>!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74823" y="1756844"/>
            <a:ext cx="8915400" cy="511076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T</a:t>
            </a:r>
            <a:r>
              <a:rPr lang="en-US" sz="2400" dirty="0" smtClean="0"/>
              <a:t>ime </a:t>
            </a:r>
            <a:r>
              <a:rPr lang="en-US" sz="2400" dirty="0"/>
              <a:t>and </a:t>
            </a:r>
            <a:r>
              <a:rPr lang="en-US" sz="2400" dirty="0" smtClean="0"/>
              <a:t>effort.</a:t>
            </a:r>
          </a:p>
          <a:p>
            <a:pPr marL="0" indent="0">
              <a:buNone/>
            </a:pPr>
            <a:endParaRPr lang="ar-SA" sz="2400" dirty="0" smtClean="0"/>
          </a:p>
          <a:p>
            <a:pPr marL="0" indent="0">
              <a:buNone/>
            </a:pPr>
            <a:endParaRPr lang="en-US" sz="2400" dirty="0" smtClean="0"/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R</a:t>
            </a:r>
            <a:r>
              <a:rPr lang="en-US" sz="2400" dirty="0" smtClean="0"/>
              <a:t>eaching recycling centers easily.</a:t>
            </a:r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endParaRPr lang="en-US" sz="2400" dirty="0" smtClean="0"/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E</a:t>
            </a:r>
            <a:r>
              <a:rPr lang="en-US" sz="2400" dirty="0" smtClean="0"/>
              <a:t>xploiting Green and Creative Ideas well.</a:t>
            </a:r>
          </a:p>
          <a:p>
            <a:pPr marL="0" indent="0">
              <a:buNone/>
            </a:pPr>
            <a:endParaRPr lang="en-US" sz="2400" dirty="0"/>
          </a:p>
          <a:p>
            <a:pPr>
              <a:buFont typeface="Wingdings" panose="05000000000000000000" pitchFamily="2" charset="2"/>
              <a:buChar char="§"/>
            </a:pPr>
            <a:endParaRPr lang="ar-SA" sz="2400" dirty="0"/>
          </a:p>
        </p:txBody>
      </p:sp>
      <p:pic>
        <p:nvPicPr>
          <p:cNvPr id="10" name="Content Placeholder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8750" y="1192500"/>
            <a:ext cx="3308437" cy="1860996"/>
          </a:xfrm>
          <a:prstGeom prst="rect">
            <a:avLst/>
          </a:prstGeom>
        </p:spPr>
      </p:pic>
      <p:pic>
        <p:nvPicPr>
          <p:cNvPr id="1026" name="Picture 2" descr="نتيجة بحث الصور عن مركز اعادة تدوير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3259" y="3468745"/>
            <a:ext cx="3373928" cy="16869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7143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GIVE A BREATH</a:t>
            </a:r>
            <a:endParaRPr lang="en-US" dirty="0"/>
          </a:p>
        </p:txBody>
      </p:sp>
      <p:pic>
        <p:nvPicPr>
          <p:cNvPr id="3074" name="Picture 2" descr="نتيجة بحث الصور عن ‪protect the environment‬‏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54" b="7272"/>
          <a:stretch/>
        </p:blipFill>
        <p:spPr bwMode="auto">
          <a:xfrm>
            <a:off x="1338706" y="1481071"/>
            <a:ext cx="10397726" cy="4728254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9993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4965895" y="186229"/>
            <a:ext cx="3305908" cy="128089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3849891" y="134466"/>
            <a:ext cx="553791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Eco-Bridge</a:t>
            </a:r>
          </a:p>
          <a:p>
            <a:pPr algn="ctr"/>
            <a:r>
              <a:rPr lang="en-US" sz="2400" dirty="0" smtClean="0">
                <a:sym typeface="Wingdings" panose="05000000000000000000" pitchFamily="2" charset="2"/>
              </a:rPr>
              <a:t>Application</a:t>
            </a:r>
          </a:p>
          <a:p>
            <a:endParaRPr lang="en-US" sz="4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4824" y="2020002"/>
            <a:ext cx="10096338" cy="41725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sym typeface="Wingdings" panose="05000000000000000000" pitchFamily="2" charset="2"/>
              </a:rPr>
              <a:t>	</a:t>
            </a:r>
            <a:r>
              <a:rPr lang="en-US" sz="2000" dirty="0" smtClean="0">
                <a:sym typeface="Wingdings" panose="05000000000000000000" pitchFamily="2" charset="2"/>
              </a:rPr>
              <a:t>		</a:t>
            </a:r>
            <a:r>
              <a:rPr lang="en-US" sz="2000" dirty="0" smtClean="0">
                <a:solidFill>
                  <a:schemeClr val="accent1">
                    <a:lumMod val="75000"/>
                  </a:schemeClr>
                </a:solidFill>
              </a:rPr>
              <a:t> To 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bridge the gap between </a:t>
            </a:r>
            <a:r>
              <a:rPr lang="en-US" sz="2000" dirty="0" smtClean="0">
                <a:solidFill>
                  <a:schemeClr val="accent1">
                    <a:lumMod val="75000"/>
                  </a:schemeClr>
                </a:solidFill>
              </a:rPr>
              <a:t>people 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and recycling </a:t>
            </a:r>
            <a:r>
              <a:rPr lang="en-US" sz="2000" dirty="0" smtClean="0">
                <a:solidFill>
                  <a:schemeClr val="accent1">
                    <a:lumMod val="75000"/>
                  </a:schemeClr>
                </a:solidFill>
              </a:rPr>
              <a:t>centers.</a:t>
            </a:r>
          </a:p>
          <a:p>
            <a:pPr marL="0" indent="0">
              <a:buNone/>
            </a:pPr>
            <a:endParaRPr lang="en-US" sz="20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u="sng" dirty="0" smtClean="0"/>
              <a:t>Environment</a:t>
            </a:r>
            <a:r>
              <a:rPr lang="en-US" dirty="0" smtClean="0"/>
              <a:t> 			            </a:t>
            </a:r>
            <a:r>
              <a:rPr lang="en-US" u="sng" dirty="0" smtClean="0"/>
              <a:t>Citizens</a:t>
            </a:r>
            <a:r>
              <a:rPr lang="en-US" dirty="0" smtClean="0"/>
              <a:t>									</a:t>
            </a:r>
            <a:r>
              <a:rPr lang="en-US" u="sng" dirty="0" smtClean="0"/>
              <a:t>Recycling Centers</a:t>
            </a:r>
          </a:p>
          <a:p>
            <a:pPr marL="0" indent="0" algn="ctr">
              <a:buNone/>
            </a:pPr>
            <a:endParaRPr lang="en-US" dirty="0" smtClean="0"/>
          </a:p>
          <a:p>
            <a:pPr marL="0" indent="0">
              <a:buNone/>
            </a:pPr>
            <a:r>
              <a:rPr lang="ar-SA" dirty="0"/>
              <a:t>	</a:t>
            </a:r>
            <a:r>
              <a:rPr lang="en-US" dirty="0" smtClean="0"/>
              <a:t>                             	 	Sell waste 	</a:t>
            </a:r>
          </a:p>
          <a:p>
            <a:pPr marL="0" indent="0">
              <a:buNone/>
            </a:pPr>
            <a:r>
              <a:rPr lang="en-US" dirty="0" smtClean="0"/>
              <a:t>			       </a:t>
            </a:r>
            <a:r>
              <a:rPr lang="en-US" dirty="0"/>
              <a:t>	</a:t>
            </a:r>
            <a:r>
              <a:rPr lang="en-US" dirty="0" smtClean="0"/>
              <a:t> 		</a:t>
            </a:r>
            <a:r>
              <a:rPr lang="en-US" dirty="0" smtClean="0">
                <a:sym typeface="Wingdings" panose="05000000000000000000" pitchFamily="2" charset="2"/>
              </a:rPr>
              <a:t>Share eco- Ideas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				Market eco-project</a:t>
            </a:r>
          </a:p>
          <a:p>
            <a:pPr marL="0" indent="0">
              <a:buNone/>
            </a:pPr>
            <a:r>
              <a:rPr lang="ar-SA" dirty="0" smtClean="0"/>
              <a:t>				</a:t>
            </a:r>
            <a:r>
              <a:rPr lang="en-US" dirty="0" smtClean="0"/>
              <a:t>      		 Learn how to build a project</a:t>
            </a:r>
            <a:endParaRPr lang="en-US" dirty="0" smtClean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	</a:t>
            </a:r>
            <a:r>
              <a:rPr lang="en-US" dirty="0" smtClean="0">
                <a:sym typeface="Wingdings" panose="05000000000000000000" pitchFamily="2" charset="2"/>
              </a:rPr>
              <a:t>					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8102989" y="3618600"/>
            <a:ext cx="14067" cy="24759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3722170" y="3689252"/>
            <a:ext cx="14067" cy="24759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42" name="Picture 2" descr="نتيجة بحث الصور عن ‪less landfills‬‏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310" y="4445803"/>
            <a:ext cx="2473066" cy="1648711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Multiply 23"/>
          <p:cNvSpPr/>
          <p:nvPr/>
        </p:nvSpPr>
        <p:spPr>
          <a:xfrm>
            <a:off x="1444824" y="3339367"/>
            <a:ext cx="1245001" cy="3861582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0246" name="Picture 6" descr="نتيجة بحث الصور عن ‪recycling centers‬‏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04" y="4347742"/>
            <a:ext cx="2377097" cy="1844834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6427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1519518"/>
            <a:ext cx="8915400" cy="5338482"/>
          </a:xfrm>
        </p:spPr>
        <p:txBody>
          <a:bodyPr>
            <a:normAutofit/>
          </a:bodyPr>
          <a:lstStyle/>
          <a:p>
            <a:pPr>
              <a:buAutoNum type="arabicPeriod"/>
            </a:pPr>
            <a:r>
              <a:rPr lang="en-US" sz="2400" b="1" dirty="0" smtClean="0">
                <a:solidFill>
                  <a:schemeClr val="accent1"/>
                </a:solidFill>
              </a:rPr>
              <a:t>Larger amounts of</a:t>
            </a:r>
            <a:r>
              <a:rPr lang="en-US" sz="2400" b="1" dirty="0">
                <a:solidFill>
                  <a:schemeClr val="accent1"/>
                </a:solidFill>
              </a:rPr>
              <a:t> </a:t>
            </a:r>
            <a:r>
              <a:rPr lang="en-US" sz="2400" b="1" dirty="0" smtClean="0">
                <a:solidFill>
                  <a:schemeClr val="accent1"/>
                </a:solidFill>
              </a:rPr>
              <a:t>productivity.</a:t>
            </a:r>
          </a:p>
          <a:p>
            <a:pPr marL="0" indent="0">
              <a:buNone/>
            </a:pPr>
            <a:endParaRPr lang="en-US" sz="2400" b="1" dirty="0" smtClean="0">
              <a:solidFill>
                <a:schemeClr val="accent1"/>
              </a:solidFill>
            </a:endParaRPr>
          </a:p>
          <a:p>
            <a:pPr marL="0" indent="0" algn="ctr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				Highest profits</a:t>
            </a:r>
            <a:endParaRPr lang="en-US" b="1" dirty="0" smtClean="0">
              <a:solidFill>
                <a:schemeClr val="accent2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sz="2400" b="1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sz="2400" b="1" dirty="0" smtClean="0">
                <a:solidFill>
                  <a:schemeClr val="accent1"/>
                </a:solidFill>
              </a:rPr>
              <a:t>2. More costumers.</a:t>
            </a:r>
          </a:p>
          <a:p>
            <a:pPr marL="0" indent="0">
              <a:buNone/>
            </a:pPr>
            <a:r>
              <a:rPr lang="en-US" sz="2400" b="1" dirty="0" smtClean="0">
                <a:solidFill>
                  <a:schemeClr val="accent1"/>
                </a:solidFill>
              </a:rPr>
              <a:t>				</a:t>
            </a:r>
          </a:p>
          <a:p>
            <a:pPr marL="0" indent="0">
              <a:buNone/>
            </a:pPr>
            <a:endParaRPr lang="en-US" sz="2400" b="1" dirty="0" smtClean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	</a:t>
            </a:r>
            <a:r>
              <a:rPr lang="en-US" sz="2400" b="1" dirty="0" smtClean="0">
                <a:solidFill>
                  <a:schemeClr val="accent1"/>
                </a:solidFill>
              </a:rPr>
              <a:t>			</a:t>
            </a:r>
            <a:endParaRPr lang="ar-SA" dirty="0" smtClean="0"/>
          </a:p>
          <a:p>
            <a:pPr marL="0" indent="0">
              <a:buNone/>
            </a:pPr>
            <a:endParaRPr lang="ar-SA" dirty="0" smtClean="0"/>
          </a:p>
          <a:p>
            <a:pPr marL="0" indent="0">
              <a:buNone/>
            </a:pPr>
            <a:r>
              <a:rPr lang="ar-SA" dirty="0" smtClean="0"/>
              <a:t>		</a:t>
            </a:r>
            <a:endParaRPr lang="ar-SA" sz="32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ar-SA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ar-SA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2657" y="103447"/>
            <a:ext cx="9781955" cy="1280890"/>
          </a:xfrm>
        </p:spPr>
        <p:txBody>
          <a:bodyPr/>
          <a:lstStyle/>
          <a:p>
            <a:r>
              <a:rPr lang="en-US" b="1" dirty="0" smtClean="0"/>
              <a:t>How?</a:t>
            </a:r>
            <a:endParaRPr lang="en-US" b="1" dirty="0"/>
          </a:p>
        </p:txBody>
      </p:sp>
      <p:sp>
        <p:nvSpPr>
          <p:cNvPr id="8" name="Down Arrow 7"/>
          <p:cNvSpPr/>
          <p:nvPr/>
        </p:nvSpPr>
        <p:spPr>
          <a:xfrm>
            <a:off x="4623514" y="2208954"/>
            <a:ext cx="309093" cy="54091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نتيجة بحث الصور عن ‪more profit‬‏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7598" y="2208954"/>
            <a:ext cx="2680689" cy="1783886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8722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69" y="117976"/>
            <a:ext cx="8911687" cy="1280890"/>
          </a:xfrm>
        </p:spPr>
        <p:txBody>
          <a:bodyPr>
            <a:normAutofit/>
          </a:bodyPr>
          <a:lstStyle/>
          <a:p>
            <a:r>
              <a:rPr lang="en-US" sz="6000" dirty="0" smtClean="0"/>
              <a:t>How to sell waste?</a:t>
            </a:r>
            <a:endParaRPr lang="en-US" sz="60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1818561"/>
              </p:ext>
            </p:extLst>
          </p:nvPr>
        </p:nvGraphicFramePr>
        <p:xfrm>
          <a:off x="2550016" y="1421306"/>
          <a:ext cx="7341887" cy="41896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5" name="Group 4"/>
          <p:cNvGrpSpPr/>
          <p:nvPr/>
        </p:nvGrpSpPr>
        <p:grpSpPr>
          <a:xfrm>
            <a:off x="2940906" y="5601900"/>
            <a:ext cx="7800819" cy="878513"/>
            <a:chOff x="36041" y="3197588"/>
            <a:chExt cx="7800819" cy="878513"/>
          </a:xfrm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6" name="Rounded Rectangle 5"/>
            <p:cNvSpPr/>
            <p:nvPr/>
          </p:nvSpPr>
          <p:spPr>
            <a:xfrm>
              <a:off x="2099979" y="3309948"/>
              <a:ext cx="5736881" cy="766153"/>
            </a:xfrm>
            <a:prstGeom prst="roundRect">
              <a:avLst>
                <a:gd name="adj" fmla="val 10000"/>
              </a:avLst>
            </a:prstGeom>
            <a:sp3d prstMaterial="plastic">
              <a:bevelT w="127000" h="25400" prst="relaxedInset"/>
            </a:sp3d>
          </p:spPr>
          <p:style>
            <a:lnRef idx="0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3">
              <a:schemeClr val="lt1">
                <a:hueOff val="0"/>
                <a:satOff val="0"/>
                <a:lumOff val="0"/>
                <a:alphaOff val="0"/>
              </a:schemeClr>
            </a:fillRef>
            <a:effectRef idx="2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" name="Rounded Rectangle 4"/>
            <p:cNvSpPr/>
            <p:nvPr/>
          </p:nvSpPr>
          <p:spPr>
            <a:xfrm>
              <a:off x="36041" y="3197588"/>
              <a:ext cx="7633393" cy="878513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5730" tIns="125730" rIns="125730" bIns="125730" numCol="1" spcCol="1270" anchor="ctr" anchorCtr="0">
              <a:noAutofit/>
            </a:bodyPr>
            <a:lstStyle/>
            <a:p>
              <a:pPr lvl="0" algn="l" defTabSz="1466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800" dirty="0" smtClean="0"/>
                <a:t>	       Make your purse and 		       environment happy</a:t>
              </a:r>
              <a:endParaRPr lang="en-US" sz="2800" kern="1200" dirty="0"/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9351468" y="5490332"/>
            <a:ext cx="490184" cy="490184"/>
            <a:chOff x="6429543" y="3123355"/>
            <a:chExt cx="490184" cy="490184"/>
          </a:xfrm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9" name="Down Arrow 8"/>
            <p:cNvSpPr/>
            <p:nvPr/>
          </p:nvSpPr>
          <p:spPr>
            <a:xfrm>
              <a:off x="6429543" y="3123355"/>
              <a:ext cx="490184" cy="490184"/>
            </a:xfrm>
            <a:prstGeom prst="downArrow">
              <a:avLst>
                <a:gd name="adj1" fmla="val 55000"/>
                <a:gd name="adj2" fmla="val 45000"/>
              </a:avLst>
            </a:prstGeom>
            <a:sp3d z="152400" extrusionH="63500" prstMaterial="dkEdge">
              <a:bevelT w="125400" h="36350" prst="relaxedInset"/>
              <a:contourClr>
                <a:schemeClr val="bg1"/>
              </a:contourClr>
            </a:sp3d>
          </p:spPr>
          <p:style>
            <a:lnRef idx="1">
              <a:schemeClr val="accent1"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0" name="Down Arrow 4"/>
            <p:cNvSpPr/>
            <p:nvPr/>
          </p:nvSpPr>
          <p:spPr>
            <a:xfrm>
              <a:off x="6539834" y="3123355"/>
              <a:ext cx="269602" cy="368863"/>
            </a:xfrm>
            <a:prstGeom prst="rect">
              <a:avLst/>
            </a:prstGeom>
            <a:sp3d z="152400"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7940" tIns="27940" rIns="27940" bIns="27940" numCol="1" spcCol="1270" anchor="ctr" anchorCtr="0">
              <a:noAutofit/>
            </a:bodyPr>
            <a:lstStyle/>
            <a:p>
              <a:pPr lvl="0" algn="ctr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2200" kern="1200"/>
            </a:p>
          </p:txBody>
        </p:sp>
      </p:grpSp>
    </p:spTree>
    <p:extLst>
      <p:ext uri="{BB962C8B-B14F-4D97-AF65-F5344CB8AC3E}">
        <p14:creationId xmlns:p14="http://schemas.microsoft.com/office/powerpoint/2010/main" val="3768120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9894" y="160471"/>
            <a:ext cx="8911687" cy="1280890"/>
          </a:xfrm>
        </p:spPr>
        <p:txBody>
          <a:bodyPr/>
          <a:lstStyle/>
          <a:p>
            <a:r>
              <a:rPr lang="en-US" dirty="0" smtClean="0"/>
              <a:t>Prototype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37453" y="1221158"/>
            <a:ext cx="2772429" cy="563194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8231" y="1221159"/>
            <a:ext cx="2743199" cy="5602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1211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1528512" y="4821250"/>
            <a:ext cx="9514626" cy="154546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1061" y="1505755"/>
            <a:ext cx="9796142" cy="4860959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</a:t>
            </a:r>
            <a:r>
              <a:rPr lang="en-US" sz="2400" dirty="0" smtClean="0"/>
              <a:t>Online earnings</a:t>
            </a:r>
            <a:r>
              <a:rPr lang="en-US" sz="2400" dirty="0" smtClean="0">
                <a:sym typeface="Wingdings" panose="05000000000000000000" pitchFamily="2" charset="2"/>
              </a:rPr>
              <a:t>.</a:t>
            </a:r>
          </a:p>
          <a:p>
            <a:pPr marL="0" indent="0">
              <a:buNone/>
            </a:pPr>
            <a:endParaRPr lang="en-US" dirty="0" smtClean="0">
              <a:sym typeface="Wingdings" panose="05000000000000000000" pitchFamily="2" charset="2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 smtClean="0"/>
              <a:t>Companies subscription</a:t>
            </a:r>
            <a:r>
              <a:rPr lang="ar-SA" sz="2400" dirty="0" smtClean="0"/>
              <a:t> </a:t>
            </a:r>
            <a:r>
              <a:rPr lang="en-US" sz="2400" dirty="0" smtClean="0"/>
              <a:t>fees.</a:t>
            </a:r>
            <a:endParaRPr lang="ar-SA" sz="2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 smtClean="0">
                <a:sym typeface="Wingdings" panose="05000000000000000000" pitchFamily="2" charset="2"/>
              </a:rPr>
              <a:t>A nominal percentage of sold products through the App.</a:t>
            </a:r>
            <a:endParaRPr lang="en-US" sz="2400" dirty="0" smtClean="0">
              <a:solidFill>
                <a:schemeClr val="accent1"/>
              </a:solidFill>
            </a:endParaRPr>
          </a:p>
          <a:p>
            <a:pPr marL="0" indent="0" algn="ctr">
              <a:buNone/>
            </a:pPr>
            <a:r>
              <a:rPr lang="en-US" sz="2800" b="1" dirty="0" smtClean="0">
                <a:solidFill>
                  <a:schemeClr val="accent1"/>
                </a:solidFill>
              </a:rPr>
              <a:t>At a beginning total = </a:t>
            </a:r>
            <a:r>
              <a:rPr lang="en-US" sz="2800" b="1" dirty="0">
                <a:solidFill>
                  <a:schemeClr val="accent1"/>
                </a:solidFill>
              </a:rPr>
              <a:t>5</a:t>
            </a:r>
            <a:r>
              <a:rPr lang="en-US" sz="2800" b="1" dirty="0" smtClean="0">
                <a:solidFill>
                  <a:schemeClr val="accent1"/>
                </a:solidFill>
              </a:rPr>
              <a:t>00,000 $</a:t>
            </a:r>
            <a:endParaRPr lang="ar-SA" sz="2800" b="1" dirty="0" smtClean="0">
              <a:solidFill>
                <a:schemeClr val="accent1"/>
              </a:solidFill>
            </a:endParaRPr>
          </a:p>
          <a:p>
            <a:pPr marL="0" indent="0" algn="ctr">
              <a:buNone/>
            </a:pPr>
            <a:endParaRPr lang="en-US" sz="2800" dirty="0" smtClean="0">
              <a:solidFill>
                <a:schemeClr val="tx1"/>
              </a:solidFill>
            </a:endParaRPr>
          </a:p>
          <a:p>
            <a:pPr marL="0" indent="0" algn="ctr">
              <a:buNone/>
            </a:pPr>
            <a:r>
              <a:rPr lang="en-US" sz="2800" dirty="0" smtClean="0">
                <a:solidFill>
                  <a:schemeClr val="tx1"/>
                </a:solidFill>
              </a:rPr>
              <a:t>By 2029 </a:t>
            </a:r>
          </a:p>
          <a:p>
            <a:pPr marL="0" indent="0" algn="ctr">
              <a:buNone/>
            </a:pPr>
            <a:r>
              <a:rPr lang="en-US" sz="2400" dirty="0" smtClean="0">
                <a:solidFill>
                  <a:schemeClr val="tx1"/>
                </a:solidFill>
              </a:rPr>
              <a:t>Millions of dollars + </a:t>
            </a:r>
            <a:r>
              <a:rPr lang="en-US" sz="2400" dirty="0" smtClean="0">
                <a:solidFill>
                  <a:schemeClr val="accent1">
                    <a:lumMod val="75000"/>
                  </a:schemeClr>
                </a:solidFill>
              </a:rPr>
              <a:t>MILLIONS</a:t>
            </a:r>
            <a:r>
              <a:rPr lang="en-US" sz="2400" dirty="0" smtClean="0">
                <a:solidFill>
                  <a:schemeClr val="tx1"/>
                </a:solidFill>
              </a:rPr>
              <a:t> FRIENDS of the Environment</a:t>
            </a:r>
          </a:p>
          <a:p>
            <a:pPr marL="0" indent="0" algn="ctr">
              <a:buNone/>
            </a:pPr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7125" y="435851"/>
            <a:ext cx="8911687" cy="1280890"/>
          </a:xfrm>
        </p:spPr>
        <p:txBody>
          <a:bodyPr>
            <a:normAutofit/>
          </a:bodyPr>
          <a:lstStyle/>
          <a:p>
            <a:r>
              <a:rPr lang="en-US" sz="6000" b="1" dirty="0" smtClean="0">
                <a:solidFill>
                  <a:schemeClr val="tx1"/>
                </a:solidFill>
              </a:rPr>
              <a:t>Profits per  year</a:t>
            </a:r>
            <a:endParaRPr lang="en-US" sz="6000" b="1" dirty="0">
              <a:solidFill>
                <a:schemeClr val="tx1"/>
              </a:solidFill>
            </a:endParaRPr>
          </a:p>
        </p:txBody>
      </p:sp>
      <p:sp>
        <p:nvSpPr>
          <p:cNvPr id="4" name="AutoShape 2" descr="نتيجة بحث الصور عن ‪profit money‬‏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6" descr="نتيجة بحث الصور عن ‪profit money‬‏"/>
          <p:cNvSpPr>
            <a:spLocks noChangeAspect="1" noChangeArrowheads="1"/>
          </p:cNvSpPr>
          <p:nvPr/>
        </p:nvSpPr>
        <p:spPr bwMode="auto">
          <a:xfrm>
            <a:off x="276599" y="1603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166"/>
          <a:stretch/>
        </p:blipFill>
        <p:spPr>
          <a:xfrm>
            <a:off x="9156879" y="809011"/>
            <a:ext cx="2845992" cy="248158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9772" y="6065765"/>
            <a:ext cx="1412228" cy="79437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91706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7009" y="649868"/>
            <a:ext cx="8911687" cy="1280890"/>
          </a:xfrm>
        </p:spPr>
        <p:txBody>
          <a:bodyPr/>
          <a:lstStyle/>
          <a:p>
            <a:r>
              <a:rPr lang="en-US" dirty="0" smtClean="0"/>
              <a:t> We got our First Costumer!!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518" y="2133600"/>
            <a:ext cx="12093262" cy="377762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400" b="1" dirty="0" smtClean="0"/>
              <a:t>Abu </a:t>
            </a:r>
            <a:r>
              <a:rPr lang="en-US" sz="4400" b="1" dirty="0" err="1" smtClean="0"/>
              <a:t>Sharar</a:t>
            </a:r>
            <a:r>
              <a:rPr lang="en-US" sz="4400" b="1" dirty="0" smtClean="0"/>
              <a:t> Company </a:t>
            </a:r>
          </a:p>
          <a:p>
            <a:pPr marL="0" indent="0" algn="ctr">
              <a:buNone/>
            </a:pPr>
            <a:r>
              <a:rPr lang="en-US" sz="4400" b="1" dirty="0" smtClean="0"/>
              <a:t> for Plastic Recycling </a:t>
            </a:r>
          </a:p>
          <a:p>
            <a:pPr marL="0" indent="0" algn="ctr">
              <a:buNone/>
            </a:pPr>
            <a:r>
              <a:rPr lang="en-US" sz="4400" b="1" dirty="0" smtClean="0"/>
              <a:t>In Hebron</a:t>
            </a:r>
            <a:endParaRPr lang="en-US" sz="4400" b="1" dirty="0"/>
          </a:p>
        </p:txBody>
      </p:sp>
      <p:pic>
        <p:nvPicPr>
          <p:cNvPr id="11266" name="Picture 2" descr="https://scontent.fjrs2-1.fna.fbcdn.net/v/t1.15752-9/78936252_722116144950215_4299718036635516928_n.jpg?_nc_cat=108&amp;_nc_ohc=QV4wNrR6EG0AQnIEuiUWeA903rSN8S03uQFR-8-6Lde4mjvgFtHXFGMjA&amp;_nc_ht=scontent.fjrs2-1.fna&amp;oh=4ceb709c2d93ee68ae4a914e8c0869ec&amp;oe=5E76A2B9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7009" y="3935948"/>
            <a:ext cx="2315536" cy="2315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5491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97466" y="108955"/>
            <a:ext cx="8911687" cy="128089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  </a:t>
            </a:r>
            <a:r>
              <a:rPr lang="en-US" dirty="0"/>
              <a:t>Arab World</a:t>
            </a:r>
            <a:r>
              <a:rPr lang="en-US" dirty="0" smtClean="0"/>
              <a:t>:</a:t>
            </a:r>
            <a:r>
              <a:rPr lang="en-US" sz="4000" dirty="0" smtClean="0"/>
              <a:t/>
            </a:r>
            <a:br>
              <a:rPr lang="en-US" sz="4000" dirty="0" smtClean="0"/>
            </a:br>
            <a:r>
              <a:rPr lang="ar-SA" sz="4000" dirty="0"/>
              <a:t/>
            </a:r>
            <a:br>
              <a:rPr lang="ar-SA" sz="4000" dirty="0"/>
            </a:br>
            <a:r>
              <a:rPr lang="en-US" sz="4000" dirty="0" smtClean="0"/>
              <a:t/>
            </a:r>
            <a:br>
              <a:rPr lang="en-US" sz="4000" dirty="0" smtClean="0"/>
            </a:br>
            <a:r>
              <a:rPr lang="en-US" sz="2000" b="1" dirty="0" smtClean="0">
                <a:solidFill>
                  <a:schemeClr val="accent1">
                    <a:lumMod val="75000"/>
                  </a:schemeClr>
                </a:solidFill>
              </a:rPr>
              <a:t>Economic losses</a:t>
            </a:r>
            <a:r>
              <a:rPr lang="en-US" sz="2000" b="1" dirty="0" smtClean="0">
                <a:solidFill>
                  <a:schemeClr val="accent1">
                    <a:lumMod val="75000"/>
                  </a:schemeClr>
                </a:solidFill>
                <a:sym typeface="Wingdings" panose="05000000000000000000" pitchFamily="2" charset="2"/>
              </a:rPr>
              <a:t> </a:t>
            </a:r>
            <a:r>
              <a:rPr lang="en-US" sz="2000" b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exceeds 5 Billion $/Year.</a:t>
            </a:r>
            <a:b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</a:br>
            <a:endParaRPr lang="en-US" sz="20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31597180"/>
              </p:ext>
            </p:extLst>
          </p:nvPr>
        </p:nvGraphicFramePr>
        <p:xfrm>
          <a:off x="2073499" y="2597239"/>
          <a:ext cx="9237931" cy="3778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089525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/>
          <p:cNvSpPr/>
          <p:nvPr/>
        </p:nvSpPr>
        <p:spPr>
          <a:xfrm>
            <a:off x="3687709" y="2420968"/>
            <a:ext cx="4404575" cy="2425693"/>
          </a:xfrm>
          <a:prstGeom prst="ellipse">
            <a:avLst/>
          </a:prstGeom>
          <a:solidFill>
            <a:schemeClr val="bg1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005330" y="3172150"/>
            <a:ext cx="61818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 smtClean="0">
                <a:solidFill>
                  <a:schemeClr val="accent4">
                    <a:lumMod val="75000"/>
                  </a:schemeClr>
                </a:solidFill>
              </a:rPr>
              <a:t>E</a:t>
            </a:r>
            <a:r>
              <a:rPr lang="en-US" sz="5400" b="1" dirty="0" smtClean="0">
                <a:solidFill>
                  <a:schemeClr val="accent5"/>
                </a:solidFill>
              </a:rPr>
              <a:t>co-</a:t>
            </a:r>
            <a:r>
              <a:rPr lang="en-US" sz="5400" b="1" dirty="0" smtClean="0">
                <a:solidFill>
                  <a:schemeClr val="accent4">
                    <a:lumMod val="75000"/>
                  </a:schemeClr>
                </a:solidFill>
              </a:rPr>
              <a:t>B</a:t>
            </a:r>
            <a:r>
              <a:rPr lang="en-US" sz="5400" b="1" dirty="0" smtClean="0">
                <a:solidFill>
                  <a:schemeClr val="accent5"/>
                </a:solidFill>
              </a:rPr>
              <a:t>ridge</a:t>
            </a:r>
            <a:endParaRPr lang="en-US" sz="540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9352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24898</TotalTime>
  <Words>169</Words>
  <Application>Microsoft Office PowerPoint</Application>
  <PresentationFormat>Widescreen</PresentationFormat>
  <Paragraphs>72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Century Gothic</vt:lpstr>
      <vt:lpstr>Tahoma</vt:lpstr>
      <vt:lpstr>Wingdings</vt:lpstr>
      <vt:lpstr>Wingdings 3</vt:lpstr>
      <vt:lpstr>Wisp</vt:lpstr>
      <vt:lpstr>PowerPoint Presentation</vt:lpstr>
      <vt:lpstr>PALESTINE</vt:lpstr>
      <vt:lpstr>PowerPoint Presentation</vt:lpstr>
      <vt:lpstr>This is due to many PROPLEMS!</vt:lpstr>
      <vt:lpstr>GIVE A BREATH</vt:lpstr>
      <vt:lpstr>PowerPoint Presentation</vt:lpstr>
      <vt:lpstr>How?</vt:lpstr>
      <vt:lpstr>How to sell waste?</vt:lpstr>
      <vt:lpstr>Prototype</vt:lpstr>
      <vt:lpstr>Profits per  year</vt:lpstr>
      <vt:lpstr> We got our First Costumer!!</vt:lpstr>
      <vt:lpstr>  Arab World:   Economic losses  exceeds 5 Billion $/Year. 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223</cp:revision>
  <dcterms:created xsi:type="dcterms:W3CDTF">2019-11-13T09:00:03Z</dcterms:created>
  <dcterms:modified xsi:type="dcterms:W3CDTF">2021-03-15T19:57:45Z</dcterms:modified>
</cp:coreProperties>
</file>